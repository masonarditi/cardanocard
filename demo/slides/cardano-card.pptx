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1325880"/>
            <a:ext cx="623621" cy="408188"/>
          </a:xfrm>
          <a:prstGeom prst="roundRect">
            <a:avLst>
              <a:gd name="adj" fmla="val 13889"/>
            </a:avLst>
          </a:prstGeom>
          <a:solidFill>
            <a:srgbClr val="0033AD"/>
          </a:solidFill>
          <a:ln w="12700">
            <a:solidFill>
              <a:srgbClr val="0033A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82290" y="1439266"/>
            <a:ext cx="124724" cy="96378"/>
          </a:xfrm>
          <a:prstGeom prst="roundRect">
            <a:avLst>
              <a:gd name="adj" fmla="val 17647"/>
            </a:avLst>
          </a:prstGeom>
          <a:solidFill>
            <a:srgbClr val="FFFFFF">
              <a:alpha val="8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02920" y="1920240"/>
            <a:ext cx="7772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400" b="1" dirty="0">
                <a:solidFill>
                  <a:srgbClr val="0A0A0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Cardano Card</a:t>
            </a:r>
            <a:endParaRPr lang="en-US" sz="54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283464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5C5C5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credit card for every Masumi agent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4338828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C5C5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built on</a:t>
            </a:r>
            <a:endParaRPr lang="en-US" sz="12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0" y="4338828"/>
            <a:ext cx="1188720" cy="182880"/>
          </a:xfrm>
          <a:prstGeom prst="rect">
            <a:avLst/>
          </a:prstGeom>
        </p:spPr>
      </p:pic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34640" y="4293108"/>
            <a:ext cx="1371600" cy="27432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4480560" y="432054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A0A0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Agentcard</a:t>
            </a:r>
            <a:endParaRPr lang="en-US" sz="1400" dirty="0"/>
          </a:p>
        </p:txBody>
      </p:sp>
      <p:sp>
        <p:nvSpPr>
          <p:cNvPr id="10" name="Text 6"/>
          <p:cNvSpPr txBox="1"/>
          <p:nvPr/>
        </p:nvSpPr>
        <p:spPr>
          <a:xfrm>
            <a:off x="5349240" y="4338828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dirty="0">
                <a:solidFill>
                  <a:srgbClr val="5C5C5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TOKEN2049 Origins · Mason &amp; Ezra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84048"/>
            <a:ext cx="8138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A0A0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Masumi agents can pay each other, but they can’t buy anything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02920" y="1508760"/>
            <a:ext cx="3931920" cy="237744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9525">
            <a:solidFill>
              <a:srgbClr val="E3E3E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2960" y="1810512"/>
            <a:ext cx="384048" cy="384048"/>
          </a:xfrm>
          <a:prstGeom prst="ellipse">
            <a:avLst/>
          </a:prstGeom>
          <a:solidFill>
            <a:srgbClr val="FA008C"/>
          </a:solidFill>
          <a:ln w="12700">
            <a:solidFill>
              <a:srgbClr val="FA008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237744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0A0A0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Agent economy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834640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C5C5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Agents hire agents on Masumi and settle in ADA or stablecoins on Cardano.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754880" y="1508760"/>
            <a:ext cx="3931920" cy="237744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9525">
            <a:solidFill>
              <a:srgbClr val="E3E3E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074920" y="1810512"/>
            <a:ext cx="384048" cy="384048"/>
          </a:xfrm>
          <a:prstGeom prst="ellipse">
            <a:avLst/>
          </a:prstGeom>
          <a:solidFill>
            <a:srgbClr val="0A0A0A"/>
          </a:solidFill>
          <a:ln w="12700">
            <a:solidFill>
              <a:srgbClr val="0A0A0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074920" y="237744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0A0A0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Real economy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5074920" y="2834640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C5C5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Amazon and almost every merchant only take a card at checkout.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502920" y="4160520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A0A0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Nothing connects the two, so an agent with funds still can’t order a pack of gum.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84048"/>
            <a:ext cx="8138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A0A0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Cardano Card turns an escrowed agent payment into a real card purchase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02920" y="1600200"/>
            <a:ext cx="1463040" cy="251460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9525">
            <a:solidFill>
              <a:srgbClr val="E3E3E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85800" y="1810512"/>
            <a:ext cx="384048" cy="384048"/>
          </a:xfrm>
          <a:prstGeom prst="ellipse">
            <a:avLst/>
          </a:prstGeom>
          <a:solidFill>
            <a:srgbClr val="FA008C"/>
          </a:solidFill>
          <a:ln w="12700">
            <a:solidFill>
              <a:srgbClr val="FA008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85800" y="18105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2377440"/>
            <a:ext cx="1143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0A0A0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Request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2788920"/>
            <a:ext cx="11430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C5C5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Any agent calls start_job over MIP-003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171700" y="1600200"/>
            <a:ext cx="1463040" cy="251460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9525">
            <a:solidFill>
              <a:srgbClr val="E3E3E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354580" y="1810512"/>
            <a:ext cx="384048" cy="384048"/>
          </a:xfrm>
          <a:prstGeom prst="ellipse">
            <a:avLst/>
          </a:prstGeom>
          <a:solidFill>
            <a:srgbClr val="FA008C"/>
          </a:solidFill>
          <a:ln w="12700">
            <a:solidFill>
              <a:srgbClr val="FA008C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354580" y="18105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2354580" y="2377440"/>
            <a:ext cx="1143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0A0A0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Quote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2354580" y="2788920"/>
            <a:ext cx="11430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C5C5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Agentcard builds the Amazon cart and its full price ceiling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840480" y="1600200"/>
            <a:ext cx="1463040" cy="251460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9525">
            <a:solidFill>
              <a:srgbClr val="E3E3E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023360" y="1810512"/>
            <a:ext cx="384048" cy="384048"/>
          </a:xfrm>
          <a:prstGeom prst="ellipse">
            <a:avLst/>
          </a:prstGeom>
          <a:solidFill>
            <a:srgbClr val="FA008C"/>
          </a:solidFill>
          <a:ln w="12700">
            <a:solidFill>
              <a:srgbClr val="FA008C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023360" y="18105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4023360" y="2377440"/>
            <a:ext cx="1143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0A0A0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Escrow</a:t>
            </a:r>
            <a:endParaRPr lang="en-US" sz="1700" dirty="0"/>
          </a:p>
        </p:txBody>
      </p:sp>
      <p:sp>
        <p:nvSpPr>
          <p:cNvPr id="17" name="Text 15"/>
          <p:cNvSpPr txBox="1"/>
          <p:nvPr/>
        </p:nvSpPr>
        <p:spPr>
          <a:xfrm>
            <a:off x="4023360" y="2788920"/>
            <a:ext cx="11430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C5C5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buyer approves and locks payment in Masumi escrow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509260" y="1600200"/>
            <a:ext cx="1463040" cy="251460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9525">
            <a:solidFill>
              <a:srgbClr val="E3E3E3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692140" y="1810512"/>
            <a:ext cx="384048" cy="384048"/>
          </a:xfrm>
          <a:prstGeom prst="ellipse">
            <a:avLst/>
          </a:prstGeom>
          <a:solidFill>
            <a:srgbClr val="FA008C"/>
          </a:solidFill>
          <a:ln w="12700">
            <a:solidFill>
              <a:srgbClr val="FA008C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692140" y="18105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5692140" y="2377440"/>
            <a:ext cx="1143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0A0A0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Purchase</a:t>
            </a:r>
            <a:endParaRPr lang="en-US" sz="1700" dirty="0"/>
          </a:p>
        </p:txBody>
      </p:sp>
      <p:sp>
        <p:nvSpPr>
          <p:cNvPr id="22" name="Text 20"/>
          <p:cNvSpPr txBox="1"/>
          <p:nvPr/>
        </p:nvSpPr>
        <p:spPr>
          <a:xfrm>
            <a:off x="5692140" y="2788920"/>
            <a:ext cx="11430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C5C5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Agentcard checks out with the vaulted card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7178040" y="1600200"/>
            <a:ext cx="1463040" cy="251460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9525">
            <a:solidFill>
              <a:srgbClr val="E3E3E3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360920" y="1810512"/>
            <a:ext cx="384048" cy="384048"/>
          </a:xfrm>
          <a:prstGeom prst="ellipse">
            <a:avLst/>
          </a:prstGeom>
          <a:solidFill>
            <a:srgbClr val="FA008C"/>
          </a:solidFill>
          <a:ln w="12700">
            <a:solidFill>
              <a:srgbClr val="FA008C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7360920" y="18105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</a:t>
            </a:r>
            <a:endParaRPr lang="en-US" sz="1500" dirty="0"/>
          </a:p>
        </p:txBody>
      </p:sp>
      <p:sp>
        <p:nvSpPr>
          <p:cNvPr id="26" name="Text 24"/>
          <p:cNvSpPr txBox="1"/>
          <p:nvPr/>
        </p:nvSpPr>
        <p:spPr>
          <a:xfrm>
            <a:off x="7360920" y="2377440"/>
            <a:ext cx="1143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0A0A0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Proof</a:t>
            </a:r>
            <a:endParaRPr lang="en-US" sz="1700" dirty="0"/>
          </a:p>
        </p:txBody>
      </p:sp>
      <p:sp>
        <p:nvSpPr>
          <p:cNvPr id="27" name="Text 25"/>
          <p:cNvSpPr txBox="1"/>
          <p:nvPr/>
        </p:nvSpPr>
        <p:spPr>
          <a:xfrm>
            <a:off x="7360920" y="2788920"/>
            <a:ext cx="11430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C5C5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order hash goes on-chain; escrow pays out or refunds</a:t>
            </a:r>
            <a:endParaRPr lang="en-US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502920" y="4343400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C5C5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If no purchase happens, the buyer is refunded from escrow. Nothing is ever bought twice.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84048"/>
            <a:ext cx="8138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A0A0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real Amazon order, proven on-chain 97 seconds after escrow locked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31520" y="2331720"/>
            <a:ext cx="7680960" cy="0"/>
          </a:xfrm>
          <a:prstGeom prst="line">
            <a:avLst/>
          </a:prstGeom>
          <a:noFill/>
          <a:ln w="25400">
            <a:solidFill>
              <a:srgbClr val="0033A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9224" y="2249424"/>
            <a:ext cx="164592" cy="164592"/>
          </a:xfrm>
          <a:prstGeom prst="ellipse">
            <a:avLst/>
          </a:prstGeom>
          <a:solidFill>
            <a:srgbClr val="0033AD"/>
          </a:solidFill>
          <a:ln w="12700">
            <a:solidFill>
              <a:srgbClr val="0033AD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9224" y="182880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0A0A0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20:37:59 SGT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649224" y="2587752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A0A0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Escrow locked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649224" y="2935224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C5C5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block 5,260,604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489704" y="2249424"/>
            <a:ext cx="164592" cy="164592"/>
          </a:xfrm>
          <a:prstGeom prst="ellipse">
            <a:avLst/>
          </a:prstGeom>
          <a:solidFill>
            <a:srgbClr val="0033AD"/>
          </a:solidFill>
          <a:ln w="12700">
            <a:solidFill>
              <a:srgbClr val="0033AD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337560" y="182880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A0A0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20:39:18 SGT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3337560" y="2587752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A0A0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Amazon order placed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3337560" y="2935224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C5C5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Trident gum, 14 pc · $1.32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30184" y="2249424"/>
            <a:ext cx="164592" cy="164592"/>
          </a:xfrm>
          <a:prstGeom prst="ellipse">
            <a:avLst/>
          </a:prstGeom>
          <a:solidFill>
            <a:srgbClr val="0033AD"/>
          </a:solidFill>
          <a:ln w="12700">
            <a:solidFill>
              <a:srgbClr val="0033AD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025896" y="182880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300" dirty="0">
                <a:solidFill>
                  <a:srgbClr val="0A0A0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20:39:36 SGT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6025896" y="2587752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0A0A0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Result proven on-chain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6025896" y="2935224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5C5C5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block 5,260,609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502920" y="3520440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400" b="1" dirty="0">
                <a:solidFill>
                  <a:srgbClr val="0A0A0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97s</a:t>
            </a:r>
            <a:endParaRPr lang="en-US" sz="5400" dirty="0"/>
          </a:p>
        </p:txBody>
      </p:sp>
      <p:sp>
        <p:nvSpPr>
          <p:cNvPr id="17" name="Text 15"/>
          <p:cNvSpPr txBox="1"/>
          <p:nvPr/>
        </p:nvSpPr>
        <p:spPr>
          <a:xfrm>
            <a:off x="2286000" y="3767328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C5C5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from escrow lock to on-chain proof of a real order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502920" y="4640580"/>
            <a:ext cx="8138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C5C5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Cardano Preprod · Agentcard order 9a193914… · tx 7fd13a227f… and b30b139b04…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84048"/>
            <a:ext cx="8138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A0A0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buyer’s money only moves after the order is certain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02920" y="1417320"/>
            <a:ext cx="3977640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 w="9525">
            <a:solidFill>
              <a:srgbClr val="E3E3E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" y="1709928"/>
            <a:ext cx="237744" cy="237744"/>
          </a:xfrm>
          <a:prstGeom prst="ellipse">
            <a:avLst/>
          </a:prstGeom>
          <a:solidFill>
            <a:srgbClr val="FA008C"/>
          </a:solidFill>
          <a:ln w="12700">
            <a:solidFill>
              <a:srgbClr val="FA008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234440" y="1664208"/>
            <a:ext cx="3063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0A0A0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Escrow before checkout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1234440" y="2039112"/>
            <a:ext cx="3063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C5C5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card is charged only after the buyer’s payment is locked on Cardano.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663440" y="1417320"/>
            <a:ext cx="3977640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 w="9525">
            <a:solidFill>
              <a:srgbClr val="E3E3E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937760" y="1709928"/>
            <a:ext cx="237744" cy="237744"/>
          </a:xfrm>
          <a:prstGeom prst="ellipse">
            <a:avLst/>
          </a:prstGeom>
          <a:solidFill>
            <a:srgbClr val="FA008C"/>
          </a:solidFill>
          <a:ln w="12700">
            <a:solidFill>
              <a:srgbClr val="FA008C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394960" y="1664208"/>
            <a:ext cx="3063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0A0A0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Full price ceiling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5394960" y="2039112"/>
            <a:ext cx="3063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C5C5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Agentcard’s authorization ceiling, not just the subtotal, must fit the approved budget.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02920" y="3017520"/>
            <a:ext cx="3977640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 w="9525">
            <a:solidFill>
              <a:srgbClr val="E3E3E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77240" y="3310128"/>
            <a:ext cx="237744" cy="237744"/>
          </a:xfrm>
          <a:prstGeom prst="ellipse">
            <a:avLst/>
          </a:prstGeom>
          <a:solidFill>
            <a:srgbClr val="FA008C"/>
          </a:solidFill>
          <a:ln w="12700">
            <a:solidFill>
              <a:srgbClr val="FA008C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1234440" y="3264408"/>
            <a:ext cx="3063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0A0A0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Never bought twice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1234440" y="3639312"/>
            <a:ext cx="3063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C5C5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Every confirm is saved before it is sent; an uncertain one is inspected, not repeated.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663440" y="3017520"/>
            <a:ext cx="3977640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 w="9525">
            <a:solidFill>
              <a:srgbClr val="E3E3E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937760" y="3310128"/>
            <a:ext cx="237744" cy="237744"/>
          </a:xfrm>
          <a:prstGeom prst="ellipse">
            <a:avLst/>
          </a:prstGeom>
          <a:solidFill>
            <a:srgbClr val="FA008C"/>
          </a:solidFill>
          <a:ln w="12700">
            <a:solidFill>
              <a:srgbClr val="FA008C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394960" y="3264408"/>
            <a:ext cx="3063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0A0A0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Refund only on proof</a:t>
            </a:r>
            <a:endParaRPr lang="en-US" sz="1700" dirty="0"/>
          </a:p>
        </p:txBody>
      </p:sp>
      <p:sp>
        <p:nvSpPr>
          <p:cNvPr id="18" name="Text 16"/>
          <p:cNvSpPr txBox="1"/>
          <p:nvPr/>
        </p:nvSpPr>
        <p:spPr>
          <a:xfrm>
            <a:off x="5394960" y="3639312"/>
            <a:ext cx="3063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C5C5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definite no-purchase refunds the buyer. An uncertain outcome waits for reconciliation.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84048"/>
            <a:ext cx="8138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A0A0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Built on Masumi, Cardano and Agentcard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162763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C5C5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Buyers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2103120" y="1371600"/>
            <a:ext cx="315468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9525">
            <a:solidFill>
              <a:srgbClr val="E3E3E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2286000" y="1490472"/>
            <a:ext cx="2788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A0A0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Any Masumi agent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2286000" y="1801368"/>
            <a:ext cx="2788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C5C5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calls the MIP-003 API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0" y="1371600"/>
            <a:ext cx="315468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9525">
            <a:solidFill>
              <a:srgbClr val="E3E3E3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669280" y="1490472"/>
            <a:ext cx="2788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A0A0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Escrow payment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5669280" y="1801368"/>
            <a:ext cx="2788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C5C5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locked before any purchase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502920" y="258775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C5C5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Cardano Card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103120" y="2331720"/>
            <a:ext cx="3154680" cy="777240"/>
          </a:xfrm>
          <a:prstGeom prst="roundRect">
            <a:avLst>
              <a:gd name="adj" fmla="val 11765"/>
            </a:avLst>
          </a:prstGeom>
          <a:solidFill>
            <a:srgbClr val="0033AD"/>
          </a:solidFill>
          <a:ln w="9525">
            <a:solidFill>
              <a:srgbClr val="0033AD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2286000" y="2450592"/>
            <a:ext cx="2788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Agent + coordinator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2286000" y="2761488"/>
            <a:ext cx="2788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8EE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quote, approval, escrow checks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0" y="2331720"/>
            <a:ext cx="3154680" cy="777240"/>
          </a:xfrm>
          <a:prstGeom prst="roundRect">
            <a:avLst>
              <a:gd name="adj" fmla="val 11765"/>
            </a:avLst>
          </a:prstGeom>
          <a:solidFill>
            <a:srgbClr val="0033AD"/>
          </a:solidFill>
          <a:ln w="9525">
            <a:solidFill>
              <a:srgbClr val="0033AD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669280" y="2450592"/>
            <a:ext cx="2788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Purchase adapter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5669280" y="2761488"/>
            <a:ext cx="2788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8EE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prepare · confirm · inspect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502920" y="354787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C5C5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Rails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103120" y="3291840"/>
            <a:ext cx="202692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9525">
            <a:solidFill>
              <a:srgbClr val="E3E3E3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2286000" y="3410712"/>
            <a:ext cx="1661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A0A0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Masumi node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2286000" y="3721608"/>
            <a:ext cx="1661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C5C5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escrow on Cardano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358640" y="3291840"/>
            <a:ext cx="202692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9525">
            <a:solidFill>
              <a:srgbClr val="E3E3E3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4541520" y="3410712"/>
            <a:ext cx="1661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A0A0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Agentcard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4541520" y="3721608"/>
            <a:ext cx="1661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C5C5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Purchase API, vault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614160" y="3291840"/>
            <a:ext cx="202692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9525">
            <a:solidFill>
              <a:srgbClr val="E3E3E3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797040" y="3410712"/>
            <a:ext cx="1661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A0A0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Amazon</a:t>
            </a:r>
            <a:endParaRPr lang="en-US" sz="1500" dirty="0"/>
          </a:p>
        </p:txBody>
      </p:sp>
      <p:sp>
        <p:nvSpPr>
          <p:cNvPr id="26" name="Text 24"/>
          <p:cNvSpPr txBox="1"/>
          <p:nvPr/>
        </p:nvSpPr>
        <p:spPr>
          <a:xfrm>
            <a:off x="6797040" y="3721608"/>
            <a:ext cx="1661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C5C5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real order and delivery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84048"/>
            <a:ext cx="8138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A0A0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Next: open Cardano Card to every agent on the marketplace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02920" y="1545336"/>
            <a:ext cx="182880" cy="182880"/>
          </a:xfrm>
          <a:prstGeom prst="ellipse">
            <a:avLst/>
          </a:prstGeom>
          <a:solidFill>
            <a:srgbClr val="FA008C"/>
          </a:solidFill>
          <a:ln w="12700">
            <a:solidFill>
              <a:srgbClr val="FA008C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914400" y="146304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0A0A0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Public endpoint</a:t>
            </a:r>
            <a:endParaRPr lang="en-US" sz="1700" dirty="0"/>
          </a:p>
        </p:txBody>
      </p:sp>
      <p:sp>
        <p:nvSpPr>
          <p:cNvPr id="5" name="Text 3"/>
          <p:cNvSpPr txBox="1"/>
          <p:nvPr/>
        </p:nvSpPr>
        <p:spPr>
          <a:xfrm>
            <a:off x="3337560" y="1481328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C5C5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Registered on Masumi Preprod; hosted escrow backend next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02920" y="2322576"/>
            <a:ext cx="182880" cy="182880"/>
          </a:xfrm>
          <a:prstGeom prst="ellipse">
            <a:avLst/>
          </a:prstGeom>
          <a:solidFill>
            <a:srgbClr val="FA008C"/>
          </a:solidFill>
          <a:ln w="12700">
            <a:solidFill>
              <a:srgbClr val="FA008C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914400" y="224028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0A0A0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Caller limits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3337560" y="2258568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C5C5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Per-agent caps before strangers can spend on a real card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" y="3099816"/>
            <a:ext cx="182880" cy="182880"/>
          </a:xfrm>
          <a:prstGeom prst="ellipse">
            <a:avLst/>
          </a:prstGeom>
          <a:solidFill>
            <a:srgbClr val="FA008C"/>
          </a:solidFill>
          <a:ln w="12700">
            <a:solidFill>
              <a:srgbClr val="FA008C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914400" y="30175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0A0A0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Mainnet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3337560" y="3035808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C5C5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Real ADA and USDCx escrow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502920" y="3877056"/>
            <a:ext cx="182880" cy="182880"/>
          </a:xfrm>
          <a:prstGeom prst="ellipse">
            <a:avLst/>
          </a:prstGeom>
          <a:solidFill>
            <a:srgbClr val="FA008C"/>
          </a:solidFill>
          <a:ln w="12700">
            <a:solidFill>
              <a:srgbClr val="FA008C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914400" y="379476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0A0A0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Issued cards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3337560" y="3813048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C5C5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Crypto-funded single-use cards from Agentcard instead of one vault card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Inter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Inter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Cardano Card</dc:title>
  <dc:subject>PptxGenJS Presentation</dc:subject>
  <dc:creator>PptxGenJS</dc:creator>
  <cp:lastModifiedBy>PptxGenJS</cp:lastModifiedBy>
  <cp:revision>1</cp:revision>
  <dcterms:created xsi:type="dcterms:W3CDTF">2026-10-07T04:49:22Z</dcterms:created>
  <dcterms:modified xsi:type="dcterms:W3CDTF">2026-10-07T04:49:22Z</dcterms:modified>
</cp:coreProperties>
</file>